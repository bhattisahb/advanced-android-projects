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E0EA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0196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6" dirty="0">
                <a:solidFill>
                  <a:srgbClr val="6B7280"/>
                </a:solidFill>
              </a:rPr>
              <a:t>Grocery App | Flutter + Firebase</a:t>
            </a:r>
            <a:endParaRPr lang="en-US" sz="98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94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784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32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32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32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32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32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-685800"/>
            <a:ext cx="3291840" cy="3291840"/>
          </a:xfrm>
          <a:prstGeom prst="arc">
            <a:avLst/>
          </a:prstGeom>
          <a:solidFill>
            <a:srgbClr val="EAF6EA"/>
          </a:solidFill>
          <a:ln w="12700">
            <a:solidFill>
              <a:srgbClr val="EAF6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394960"/>
            <a:ext cx="1828800" cy="1828800"/>
          </a:xfrm>
          <a:prstGeom prst="arc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4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-822960"/>
            <a:ext cx="4754880" cy="4754880"/>
          </a:xfrm>
          <a:prstGeom prst="arc">
            <a:avLst/>
          </a:prstGeom>
          <a:solidFill>
            <a:srgbClr val="DFF2DF"/>
          </a:solidFill>
          <a:ln w="12700">
            <a:solidFill>
              <a:srgbClr val="DFF2D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097280" y="4389120"/>
            <a:ext cx="3108960" cy="3108960"/>
          </a:xfrm>
          <a:prstGeom prst="arc">
            <a:avLst/>
          </a:prstGeom>
          <a:solidFill>
            <a:srgbClr val="FFE8D6"/>
          </a:solidFill>
          <a:ln w="12700">
            <a:solidFill>
              <a:srgbClr val="FFE8D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978408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</a:rPr>
              <a:t>Flutter + Firebase</a:t>
            </a:r>
            <a:endParaRPr lang="en-US" sz="1088" dirty="0"/>
          </a:p>
        </p:txBody>
      </p:sp>
      <p:sp>
        <p:nvSpPr>
          <p:cNvPr id="9" name="Text 7"/>
          <p:cNvSpPr/>
          <p:nvPr/>
        </p:nvSpPr>
        <p:spPr>
          <a:xfrm>
            <a:off x="713232" y="141732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10" b="1" dirty="0">
                <a:solidFill>
                  <a:srgbClr val="1230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Grocery App</a:t>
            </a:r>
            <a:endParaRPr lang="en-US" sz="4410" dirty="0"/>
          </a:p>
        </p:txBody>
      </p:sp>
      <p:sp>
        <p:nvSpPr>
          <p:cNvPr id="10" name="Text 8"/>
          <p:cNvSpPr/>
          <p:nvPr/>
        </p:nvSpPr>
        <p:spPr>
          <a:xfrm>
            <a:off x="749808" y="214884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2" b="1" dirty="0">
                <a:solidFill>
                  <a:srgbClr val="2E7D32"/>
                </a:solidFill>
              </a:rPr>
              <a:t>Advanced Android Project</a:t>
            </a:r>
            <a:endParaRPr lang="en-US" sz="2552" dirty="0"/>
          </a:p>
        </p:txBody>
      </p:sp>
      <p:sp>
        <p:nvSpPr>
          <p:cNvPr id="11" name="Text 9"/>
          <p:cNvSpPr/>
          <p:nvPr/>
        </p:nvSpPr>
        <p:spPr>
          <a:xfrm>
            <a:off x="768096" y="2788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6B7280"/>
                </a:solidFill>
              </a:rPr>
              <a:t>A complete grocery shopping app with customer ordering, admin management, manual payment confirmation, and sales insights.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68096" y="50749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90" dirty="0">
                <a:solidFill>
                  <a:srgbClr val="1F2937"/>
                </a:solidFill>
              </a:rPr>
              <a:t>Presented by: Husnain Amin (FA22-BSE-004) and Muhammad Ahmad (FA22-BSE-035)</a:t>
            </a:r>
            <a:endParaRPr lang="en-US" sz="1690" dirty="0"/>
          </a:p>
          <a:p>
            <a:pPr indent="0" marL="0">
              <a:buNone/>
            </a:pPr>
            <a:r>
              <a:rPr lang="en-US" sz="1690" dirty="0">
                <a:solidFill>
                  <a:srgbClr val="1F2937"/>
                </a:solidFill>
              </a:rPr>
              <a:t>Supervisor: Muhammad Abdullah</a:t>
            </a:r>
            <a:endParaRPr lang="en-US" sz="1690" dirty="0"/>
          </a:p>
        </p:txBody>
      </p:sp>
      <p:sp>
        <p:nvSpPr>
          <p:cNvPr id="13" name="Shape 11"/>
          <p:cNvSpPr/>
          <p:nvPr/>
        </p:nvSpPr>
        <p:spPr>
          <a:xfrm>
            <a:off x="7543800" y="1417320"/>
            <a:ext cx="2148840" cy="42062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581912"/>
            <a:ext cx="1874520" cy="3822192"/>
          </a:xfrm>
          <a:prstGeom prst="roundRect">
            <a:avLst>
              <a:gd name="adj" fmla="val 5854"/>
            </a:avLst>
          </a:prstGeom>
          <a:solidFill>
            <a:srgbClr val="F9FAFB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1581912"/>
            <a:ext cx="18745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9832" y="17373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9" b="1" dirty="0">
                <a:solidFill>
                  <a:srgbClr val="FFFFFF"/>
                </a:solidFill>
              </a:rPr>
              <a:t>Customer App</a:t>
            </a:r>
            <a:endParaRPr lang="en-US" sz="1189" dirty="0"/>
          </a:p>
        </p:txBody>
      </p:sp>
      <p:sp>
        <p:nvSpPr>
          <p:cNvPr id="17" name="Shape 15"/>
          <p:cNvSpPr/>
          <p:nvPr/>
        </p:nvSpPr>
        <p:spPr>
          <a:xfrm>
            <a:off x="7863840" y="2350008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AF6EA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64424" y="2441448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Home</a:t>
            </a:r>
            <a:endParaRPr lang="en-US" sz="957" dirty="0"/>
          </a:p>
        </p:txBody>
      </p:sp>
      <p:sp>
        <p:nvSpPr>
          <p:cNvPr id="19" name="Shape 17"/>
          <p:cNvSpPr/>
          <p:nvPr/>
        </p:nvSpPr>
        <p:spPr>
          <a:xfrm>
            <a:off x="7863840" y="2825496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F7ED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64424" y="2916936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Products</a:t>
            </a:r>
            <a:endParaRPr lang="en-US" sz="957" dirty="0"/>
          </a:p>
        </p:txBody>
      </p:sp>
      <p:sp>
        <p:nvSpPr>
          <p:cNvPr id="21" name="Shape 19"/>
          <p:cNvSpPr/>
          <p:nvPr/>
        </p:nvSpPr>
        <p:spPr>
          <a:xfrm>
            <a:off x="7863840" y="3300984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AF6EA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64424" y="3392424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Cart</a:t>
            </a:r>
            <a:endParaRPr lang="en-US" sz="957" dirty="0"/>
          </a:p>
        </p:txBody>
      </p:sp>
      <p:sp>
        <p:nvSpPr>
          <p:cNvPr id="23" name="Shape 21"/>
          <p:cNvSpPr/>
          <p:nvPr/>
        </p:nvSpPr>
        <p:spPr>
          <a:xfrm>
            <a:off x="7863840" y="3776472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F7ED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64424" y="3867912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Orders</a:t>
            </a:r>
            <a:endParaRPr lang="en-US" sz="957" dirty="0"/>
          </a:p>
        </p:txBody>
      </p:sp>
      <p:sp>
        <p:nvSpPr>
          <p:cNvPr id="25" name="Text 23"/>
          <p:cNvSpPr/>
          <p:nvPr/>
        </p:nvSpPr>
        <p:spPr>
          <a:xfrm>
            <a:off x="7863840" y="51206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8" i="1" dirty="0">
                <a:solidFill>
                  <a:srgbClr val="6B7280"/>
                </a:solidFill>
              </a:rPr>
              <a:t>Screenshot Placeholder</a:t>
            </a:r>
            <a:endParaRPr lang="en-US" sz="928" dirty="0"/>
          </a:p>
        </p:txBody>
      </p:sp>
      <p:sp>
        <p:nvSpPr>
          <p:cNvPr id="26" name="Shape 24"/>
          <p:cNvSpPr/>
          <p:nvPr/>
        </p:nvSpPr>
        <p:spPr>
          <a:xfrm>
            <a:off x="9646920" y="1143000"/>
            <a:ext cx="2148840" cy="42062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0" y="1307592"/>
            <a:ext cx="1874520" cy="3822192"/>
          </a:xfrm>
          <a:prstGeom prst="roundRect">
            <a:avLst>
              <a:gd name="adj" fmla="val 5854"/>
            </a:avLst>
          </a:prstGeom>
          <a:solidFill>
            <a:srgbClr val="F9FAFB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0" y="1307592"/>
            <a:ext cx="18745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02952" y="14630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9" b="1" dirty="0">
                <a:solidFill>
                  <a:srgbClr val="FFFFFF"/>
                </a:solidFill>
              </a:rPr>
              <a:t>Admin App</a:t>
            </a:r>
            <a:endParaRPr lang="en-US" sz="1189" dirty="0"/>
          </a:p>
        </p:txBody>
      </p:sp>
      <p:sp>
        <p:nvSpPr>
          <p:cNvPr id="30" name="Shape 28"/>
          <p:cNvSpPr/>
          <p:nvPr/>
        </p:nvSpPr>
        <p:spPr>
          <a:xfrm>
            <a:off x="9966960" y="2075688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AF6EA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67544" y="2167128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Orders</a:t>
            </a:r>
            <a:endParaRPr lang="en-US" sz="957" dirty="0"/>
          </a:p>
        </p:txBody>
      </p:sp>
      <p:sp>
        <p:nvSpPr>
          <p:cNvPr id="32" name="Shape 30"/>
          <p:cNvSpPr/>
          <p:nvPr/>
        </p:nvSpPr>
        <p:spPr>
          <a:xfrm>
            <a:off x="9966960" y="2551176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F7ED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67544" y="2642616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Payments</a:t>
            </a:r>
            <a:endParaRPr lang="en-US" sz="957" dirty="0"/>
          </a:p>
        </p:txBody>
      </p:sp>
      <p:sp>
        <p:nvSpPr>
          <p:cNvPr id="34" name="Shape 32"/>
          <p:cNvSpPr/>
          <p:nvPr/>
        </p:nvSpPr>
        <p:spPr>
          <a:xfrm>
            <a:off x="9966960" y="3026664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AF6EA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67544" y="3118104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Sales</a:t>
            </a:r>
            <a:endParaRPr lang="en-US" sz="957" dirty="0"/>
          </a:p>
        </p:txBody>
      </p:sp>
      <p:sp>
        <p:nvSpPr>
          <p:cNvPr id="36" name="Shape 34"/>
          <p:cNvSpPr/>
          <p:nvPr/>
        </p:nvSpPr>
        <p:spPr>
          <a:xfrm>
            <a:off x="9966960" y="3502152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F7ED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67544" y="3593592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Insights</a:t>
            </a:r>
            <a:endParaRPr lang="en-US" sz="957" dirty="0"/>
          </a:p>
        </p:txBody>
      </p:sp>
      <p:sp>
        <p:nvSpPr>
          <p:cNvPr id="38" name="Text 36"/>
          <p:cNvSpPr/>
          <p:nvPr/>
        </p:nvSpPr>
        <p:spPr>
          <a:xfrm>
            <a:off x="9966960" y="48463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8" i="1" dirty="0">
                <a:solidFill>
                  <a:srgbClr val="6B7280"/>
                </a:solidFill>
              </a:rPr>
              <a:t>Screenshot Placeholder</a:t>
            </a:r>
            <a:endParaRPr lang="en-US" sz="9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-685800"/>
            <a:ext cx="3291840" cy="3291840"/>
          </a:xfrm>
          <a:prstGeom prst="arc">
            <a:avLst/>
          </a:prstGeom>
          <a:solidFill>
            <a:srgbClr val="EAF6EA"/>
          </a:solidFill>
          <a:ln w="12700">
            <a:solidFill>
              <a:srgbClr val="EAF6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394960"/>
            <a:ext cx="1828800" cy="1828800"/>
          </a:xfrm>
          <a:prstGeom prst="arc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0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955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9" dirty="0">
                <a:solidFill>
                  <a:srgbClr val="6B7280"/>
                </a:solidFill>
              </a:rPr>
              <a:t>Why this app is needed</a:t>
            </a:r>
            <a:endParaRPr lang="en-US" sz="1449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11109960" cy="0"/>
          </a:xfrm>
          <a:prstGeom prst="line">
            <a:avLst/>
          </a:prstGeom>
          <a:noFill/>
          <a:ln w="12700">
            <a:solidFill>
              <a:srgbClr val="DDE7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087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08760"/>
            <a:ext cx="73152" cy="3566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733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Customer Need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914400" y="2039112"/>
            <a:ext cx="30632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Customers need a simple way to browse grocery products, add items to cart, and place orders from their phone.</a:t>
            </a:r>
            <a:endParaRPr lang="en-US" sz="1587" dirty="0"/>
          </a:p>
        </p:txBody>
      </p:sp>
      <p:sp>
        <p:nvSpPr>
          <p:cNvPr id="12" name="Shape 10"/>
          <p:cNvSpPr/>
          <p:nvPr/>
        </p:nvSpPr>
        <p:spPr>
          <a:xfrm>
            <a:off x="4434840" y="15087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508760"/>
            <a:ext cx="73152" cy="3566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6733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Store Need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4663440" y="2039112"/>
            <a:ext cx="30632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Small grocery stores need an easy admin panel to manage products, orders, customers, and sales.</a:t>
            </a:r>
            <a:endParaRPr lang="en-US" sz="1587" dirty="0"/>
          </a:p>
        </p:txBody>
      </p:sp>
      <p:sp>
        <p:nvSpPr>
          <p:cNvPr id="16" name="Shape 14"/>
          <p:cNvSpPr/>
          <p:nvPr/>
        </p:nvSpPr>
        <p:spPr>
          <a:xfrm>
            <a:off x="8183880" y="150876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508760"/>
            <a:ext cx="73152" cy="35661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16733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Payment Need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8412480" y="2039112"/>
            <a:ext cx="292608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Manual payments through Bank, JazzCash, and EasyPaisa need clear tracking and confirmation.</a:t>
            </a:r>
            <a:endParaRPr lang="en-US" sz="158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-685800"/>
            <a:ext cx="3291840" cy="3291840"/>
          </a:xfrm>
          <a:prstGeom prst="arc">
            <a:avLst/>
          </a:prstGeom>
          <a:solidFill>
            <a:srgbClr val="EAF6EA"/>
          </a:solidFill>
          <a:ln w="12700">
            <a:solidFill>
              <a:srgbClr val="EAF6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394960"/>
            <a:ext cx="1828800" cy="1828800"/>
          </a:xfrm>
          <a:prstGeom prst="arc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0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955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9" dirty="0">
                <a:solidFill>
                  <a:srgbClr val="6B7280"/>
                </a:solidFill>
              </a:rPr>
              <a:t>Main goals of the application</a:t>
            </a:r>
            <a:endParaRPr lang="en-US" sz="1449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11109960" cy="0"/>
          </a:xfrm>
          <a:prstGeom prst="line">
            <a:avLst/>
          </a:prstGeom>
          <a:noFill/>
          <a:ln w="12700">
            <a:solidFill>
              <a:srgbClr val="DDE7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508760"/>
            <a:ext cx="6629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80" dirty="0">
                <a:solidFill>
                  <a:srgbClr val="1F2937"/>
                </a:solidFill>
              </a:rPr>
              <a:t>Build a customer grocery shopping mobile app.</a:t>
            </a:r>
            <a:endParaRPr lang="en-US" sz="208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075688"/>
            <a:ext cx="6629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80" dirty="0">
                <a:solidFill>
                  <a:srgbClr val="1F2937"/>
                </a:solidFill>
              </a:rPr>
              <a:t>Allow browsing by category, sale items, search, cart, wishlist, and checkout.</a:t>
            </a:r>
            <a:endParaRPr lang="en-US" sz="2080" dirty="0"/>
          </a:p>
        </p:txBody>
      </p:sp>
      <p:sp>
        <p:nvSpPr>
          <p:cNvPr id="12" name="Shape 10"/>
          <p:cNvSpPr/>
          <p:nvPr/>
        </p:nvSpPr>
        <p:spPr>
          <a:xfrm>
            <a:off x="777240" y="271576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2642616"/>
            <a:ext cx="6629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80" dirty="0">
                <a:solidFill>
                  <a:srgbClr val="1F2937"/>
                </a:solidFill>
              </a:rPr>
              <a:t>Support manual payment confirmation by admin.</a:t>
            </a:r>
            <a:endParaRPr lang="en-US" sz="2080" dirty="0"/>
          </a:p>
        </p:txBody>
      </p:sp>
      <p:sp>
        <p:nvSpPr>
          <p:cNvPr id="14" name="Shape 12"/>
          <p:cNvSpPr/>
          <p:nvPr/>
        </p:nvSpPr>
        <p:spPr>
          <a:xfrm>
            <a:off x="777240" y="328269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3209544"/>
            <a:ext cx="6629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80" dirty="0">
                <a:solidFill>
                  <a:srgbClr val="1F2937"/>
                </a:solidFill>
              </a:rPr>
              <a:t>Provide an admin dashboard for orders, payments, customers, and sales.</a:t>
            </a:r>
            <a:endParaRPr lang="en-US" sz="2080" dirty="0"/>
          </a:p>
        </p:txBody>
      </p:sp>
      <p:sp>
        <p:nvSpPr>
          <p:cNvPr id="16" name="Shape 14"/>
          <p:cNvSpPr/>
          <p:nvPr/>
        </p:nvSpPr>
        <p:spPr>
          <a:xfrm>
            <a:off x="777240" y="384962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" y="3776472"/>
            <a:ext cx="6629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80" dirty="0">
                <a:solidFill>
                  <a:srgbClr val="1F2937"/>
                </a:solidFill>
              </a:rPr>
              <a:t>Show daily, weekly, monthly, and yearly sales insights.</a:t>
            </a:r>
            <a:endParaRPr lang="en-US" sz="2080" dirty="0"/>
          </a:p>
        </p:txBody>
      </p:sp>
      <p:sp>
        <p:nvSpPr>
          <p:cNvPr id="18" name="Shape 16"/>
          <p:cNvSpPr/>
          <p:nvPr/>
        </p:nvSpPr>
        <p:spPr>
          <a:xfrm>
            <a:off x="8275320" y="1325880"/>
            <a:ext cx="2148840" cy="42062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1490472"/>
            <a:ext cx="1874520" cy="3822192"/>
          </a:xfrm>
          <a:prstGeom prst="roundRect">
            <a:avLst>
              <a:gd name="adj" fmla="val 5854"/>
            </a:avLst>
          </a:prstGeom>
          <a:solidFill>
            <a:srgbClr val="F9FAFB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1490472"/>
            <a:ext cx="18745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31352" y="16459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9" b="1" dirty="0">
                <a:solidFill>
                  <a:srgbClr val="FFFFFF"/>
                </a:solidFill>
              </a:rPr>
              <a:t>Project Flow</a:t>
            </a:r>
            <a:endParaRPr lang="en-US" sz="1189" dirty="0"/>
          </a:p>
        </p:txBody>
      </p:sp>
      <p:sp>
        <p:nvSpPr>
          <p:cNvPr id="22" name="Shape 20"/>
          <p:cNvSpPr/>
          <p:nvPr/>
        </p:nvSpPr>
        <p:spPr>
          <a:xfrm>
            <a:off x="8595360" y="2258568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AF6EA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95944" y="2350008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Browse</a:t>
            </a:r>
            <a:endParaRPr lang="en-US" sz="957" dirty="0"/>
          </a:p>
        </p:txBody>
      </p:sp>
      <p:sp>
        <p:nvSpPr>
          <p:cNvPr id="24" name="Shape 22"/>
          <p:cNvSpPr/>
          <p:nvPr/>
        </p:nvSpPr>
        <p:spPr>
          <a:xfrm>
            <a:off x="8595360" y="2734056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F7ED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95944" y="2825496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Order</a:t>
            </a:r>
            <a:endParaRPr lang="en-US" sz="957" dirty="0"/>
          </a:p>
        </p:txBody>
      </p:sp>
      <p:sp>
        <p:nvSpPr>
          <p:cNvPr id="26" name="Shape 24"/>
          <p:cNvSpPr/>
          <p:nvPr/>
        </p:nvSpPr>
        <p:spPr>
          <a:xfrm>
            <a:off x="8595360" y="3209544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AF6EA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95944" y="3300984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Pay</a:t>
            </a:r>
            <a:endParaRPr lang="en-US" sz="957" dirty="0"/>
          </a:p>
        </p:txBody>
      </p:sp>
      <p:sp>
        <p:nvSpPr>
          <p:cNvPr id="28" name="Shape 26"/>
          <p:cNvSpPr/>
          <p:nvPr/>
        </p:nvSpPr>
        <p:spPr>
          <a:xfrm>
            <a:off x="8595360" y="3685032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F7ED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95944" y="3776472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Track</a:t>
            </a:r>
            <a:endParaRPr lang="en-US" sz="957" dirty="0"/>
          </a:p>
        </p:txBody>
      </p:sp>
      <p:sp>
        <p:nvSpPr>
          <p:cNvPr id="30" name="Shape 28"/>
          <p:cNvSpPr/>
          <p:nvPr/>
        </p:nvSpPr>
        <p:spPr>
          <a:xfrm>
            <a:off x="8595360" y="4160520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AF6EA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95944" y="4251960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Analyze</a:t>
            </a:r>
            <a:endParaRPr lang="en-US" sz="957" dirty="0"/>
          </a:p>
        </p:txBody>
      </p:sp>
      <p:sp>
        <p:nvSpPr>
          <p:cNvPr id="32" name="Text 30"/>
          <p:cNvSpPr/>
          <p:nvPr/>
        </p:nvSpPr>
        <p:spPr>
          <a:xfrm>
            <a:off x="8595360" y="50292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8" i="1" dirty="0">
                <a:solidFill>
                  <a:srgbClr val="6B7280"/>
                </a:solidFill>
              </a:rPr>
              <a:t>Screenshot Placeholder</a:t>
            </a:r>
            <a:endParaRPr lang="en-US" sz="9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-685800"/>
            <a:ext cx="3291840" cy="3291840"/>
          </a:xfrm>
          <a:prstGeom prst="arc">
            <a:avLst/>
          </a:prstGeom>
          <a:solidFill>
            <a:srgbClr val="EAF6EA"/>
          </a:solidFill>
          <a:ln w="12700">
            <a:solidFill>
              <a:srgbClr val="EAF6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394960"/>
            <a:ext cx="1828800" cy="1828800"/>
          </a:xfrm>
          <a:prstGeom prst="arc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0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Technologies Used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955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9" dirty="0">
                <a:solidFill>
                  <a:srgbClr val="6B7280"/>
                </a:solidFill>
              </a:rPr>
              <a:t>Tools and frameworks used in the project</a:t>
            </a:r>
            <a:endParaRPr lang="en-US" sz="1449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11109960" cy="0"/>
          </a:xfrm>
          <a:prstGeom prst="line">
            <a:avLst/>
          </a:prstGeom>
          <a:noFill/>
          <a:ln w="12700">
            <a:solidFill>
              <a:srgbClr val="DDE7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73152" cy="13533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8191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Flutter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914400" y="1947672"/>
            <a:ext cx="2075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Mobile app UI</a:t>
            </a:r>
            <a:endParaRPr lang="en-US" sz="1587" dirty="0"/>
          </a:p>
        </p:txBody>
      </p:sp>
      <p:sp>
        <p:nvSpPr>
          <p:cNvPr id="12" name="Shape 10"/>
          <p:cNvSpPr/>
          <p:nvPr/>
        </p:nvSpPr>
        <p:spPr>
          <a:xfrm>
            <a:off x="3520440" y="1417320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417320"/>
            <a:ext cx="73152" cy="13533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58191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Dart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3749040" y="1947672"/>
            <a:ext cx="2075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Programming language</a:t>
            </a:r>
            <a:endParaRPr lang="en-US" sz="1587" dirty="0"/>
          </a:p>
        </p:txBody>
      </p:sp>
      <p:sp>
        <p:nvSpPr>
          <p:cNvPr id="16" name="Shape 14"/>
          <p:cNvSpPr/>
          <p:nvPr/>
        </p:nvSpPr>
        <p:spPr>
          <a:xfrm>
            <a:off x="6355080" y="1417320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1417320"/>
            <a:ext cx="73152" cy="13533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58191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Firebase Auth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6583680" y="1947672"/>
            <a:ext cx="2075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Login and registration</a:t>
            </a:r>
            <a:endParaRPr lang="en-US" sz="1587" dirty="0"/>
          </a:p>
        </p:txBody>
      </p:sp>
      <p:sp>
        <p:nvSpPr>
          <p:cNvPr id="20" name="Shape 18"/>
          <p:cNvSpPr/>
          <p:nvPr/>
        </p:nvSpPr>
        <p:spPr>
          <a:xfrm>
            <a:off x="9189720" y="1417320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417320"/>
            <a:ext cx="73152" cy="13533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158191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Cloud Firestore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9418320" y="1947672"/>
            <a:ext cx="2075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Database</a:t>
            </a:r>
            <a:endParaRPr lang="en-US" sz="1587" dirty="0"/>
          </a:p>
        </p:txBody>
      </p:sp>
      <p:sp>
        <p:nvSpPr>
          <p:cNvPr id="24" name="Shape 22"/>
          <p:cNvSpPr/>
          <p:nvPr/>
        </p:nvSpPr>
        <p:spPr>
          <a:xfrm>
            <a:off x="685800" y="3291840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291840"/>
            <a:ext cx="73152" cy="13533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45643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Provider</a:t>
            </a:r>
            <a:endParaRPr lang="en-US" sz="1820" dirty="0"/>
          </a:p>
        </p:txBody>
      </p:sp>
      <p:sp>
        <p:nvSpPr>
          <p:cNvPr id="27" name="Text 25"/>
          <p:cNvSpPr/>
          <p:nvPr/>
        </p:nvSpPr>
        <p:spPr>
          <a:xfrm>
            <a:off x="914400" y="3822192"/>
            <a:ext cx="2075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State management</a:t>
            </a:r>
            <a:endParaRPr lang="en-US" sz="1587" dirty="0"/>
          </a:p>
        </p:txBody>
      </p:sp>
      <p:sp>
        <p:nvSpPr>
          <p:cNvPr id="28" name="Shape 26"/>
          <p:cNvSpPr/>
          <p:nvPr/>
        </p:nvSpPr>
        <p:spPr>
          <a:xfrm>
            <a:off x="3520440" y="3291840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0440" y="3291840"/>
            <a:ext cx="73152" cy="13533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345643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FL Chart</a:t>
            </a:r>
            <a:endParaRPr lang="en-US" sz="1820" dirty="0"/>
          </a:p>
        </p:txBody>
      </p:sp>
      <p:sp>
        <p:nvSpPr>
          <p:cNvPr id="31" name="Text 29"/>
          <p:cNvSpPr/>
          <p:nvPr/>
        </p:nvSpPr>
        <p:spPr>
          <a:xfrm>
            <a:off x="3749040" y="3822192"/>
            <a:ext cx="2075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Sales graphs</a:t>
            </a:r>
            <a:endParaRPr lang="en-US" sz="1587" dirty="0"/>
          </a:p>
        </p:txBody>
      </p:sp>
      <p:sp>
        <p:nvSpPr>
          <p:cNvPr id="32" name="Shape 30"/>
          <p:cNvSpPr/>
          <p:nvPr/>
        </p:nvSpPr>
        <p:spPr>
          <a:xfrm>
            <a:off x="6355080" y="3291840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3291840"/>
            <a:ext cx="73152" cy="13533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45643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Local Notifications</a:t>
            </a:r>
            <a:endParaRPr lang="en-US" sz="1820" dirty="0"/>
          </a:p>
        </p:txBody>
      </p:sp>
      <p:sp>
        <p:nvSpPr>
          <p:cNvPr id="35" name="Text 33"/>
          <p:cNvSpPr/>
          <p:nvPr/>
        </p:nvSpPr>
        <p:spPr>
          <a:xfrm>
            <a:off x="6583680" y="3822192"/>
            <a:ext cx="2075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App alerts</a:t>
            </a:r>
            <a:endParaRPr lang="en-US" sz="1587" dirty="0"/>
          </a:p>
        </p:txBody>
      </p:sp>
      <p:sp>
        <p:nvSpPr>
          <p:cNvPr id="36" name="Shape 34"/>
          <p:cNvSpPr/>
          <p:nvPr/>
        </p:nvSpPr>
        <p:spPr>
          <a:xfrm>
            <a:off x="9189720" y="3291840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89720" y="3291840"/>
            <a:ext cx="73152" cy="13533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18320" y="345643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Firebase Rules</a:t>
            </a:r>
            <a:endParaRPr lang="en-US" sz="1820" dirty="0"/>
          </a:p>
        </p:txBody>
      </p:sp>
      <p:sp>
        <p:nvSpPr>
          <p:cNvPr id="39" name="Text 37"/>
          <p:cNvSpPr/>
          <p:nvPr/>
        </p:nvSpPr>
        <p:spPr>
          <a:xfrm>
            <a:off x="9418320" y="3822192"/>
            <a:ext cx="2075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Data security</a:t>
            </a:r>
            <a:endParaRPr lang="en-US" sz="158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-685800"/>
            <a:ext cx="3291840" cy="3291840"/>
          </a:xfrm>
          <a:prstGeom prst="arc">
            <a:avLst/>
          </a:prstGeom>
          <a:solidFill>
            <a:srgbClr val="EAF6EA"/>
          </a:solidFill>
          <a:ln w="12700">
            <a:solidFill>
              <a:srgbClr val="EAF6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394960"/>
            <a:ext cx="1828800" cy="1828800"/>
          </a:xfrm>
          <a:prstGeom prst="arc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0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User Roles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955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9" dirty="0">
                <a:solidFill>
                  <a:srgbClr val="6B7280"/>
                </a:solidFill>
              </a:rPr>
              <a:t>The app has customer and admin sides</a:t>
            </a:r>
            <a:endParaRPr lang="en-US" sz="1449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11109960" cy="0"/>
          </a:xfrm>
          <a:prstGeom prst="line">
            <a:avLst/>
          </a:prstGeom>
          <a:noFill/>
          <a:ln w="12700">
            <a:solidFill>
              <a:srgbClr val="DDE7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17320"/>
            <a:ext cx="49834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5819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Customer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1051560" y="1947672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Browse products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Add to cart and wishlist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Place grocery orders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View order and payment status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Check paid date and payment channel</a:t>
            </a:r>
            <a:endParaRPr lang="en-US" sz="1587" dirty="0"/>
          </a:p>
        </p:txBody>
      </p:sp>
      <p:sp>
        <p:nvSpPr>
          <p:cNvPr id="12" name="Shape 10"/>
          <p:cNvSpPr/>
          <p:nvPr/>
        </p:nvSpPr>
        <p:spPr>
          <a:xfrm>
            <a:off x="6355080" y="1417320"/>
            <a:ext cx="49834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417320"/>
            <a:ext cx="73152" cy="4389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819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Admin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6583680" y="1947672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Manage products and categories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View customers and grouped orders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Update fulfillment status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Confirm payment received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View analytics and insights</a:t>
            </a:r>
            <a:endParaRPr lang="en-US" sz="158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-685800"/>
            <a:ext cx="3291840" cy="3291840"/>
          </a:xfrm>
          <a:prstGeom prst="arc">
            <a:avLst/>
          </a:prstGeom>
          <a:solidFill>
            <a:srgbClr val="EAF6EA"/>
          </a:solidFill>
          <a:ln w="12700">
            <a:solidFill>
              <a:srgbClr val="EAF6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394960"/>
            <a:ext cx="1828800" cy="1828800"/>
          </a:xfrm>
          <a:prstGeom prst="arc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0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App Features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955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9" dirty="0">
                <a:solidFill>
                  <a:srgbClr val="6B7280"/>
                </a:solidFill>
              </a:rPr>
              <a:t>Simple shopping experience for customers</a:t>
            </a:r>
            <a:endParaRPr lang="en-US" sz="1449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11109960" cy="0"/>
          </a:xfrm>
          <a:prstGeom prst="line">
            <a:avLst/>
          </a:prstGeom>
          <a:noFill/>
          <a:ln w="12700">
            <a:solidFill>
              <a:srgbClr val="DD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44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10" b="1" dirty="0">
                <a:solidFill>
                  <a:srgbClr val="2E7D32"/>
                </a:solidFill>
              </a:rPr>
              <a:t>Customer side includes:</a:t>
            </a:r>
            <a:endParaRPr lang="en-US" sz="2210" dirty="0"/>
          </a:p>
        </p:txBody>
      </p:sp>
      <p:sp>
        <p:nvSpPr>
          <p:cNvPr id="9" name="Shape 7"/>
          <p:cNvSpPr/>
          <p:nvPr/>
        </p:nvSpPr>
        <p:spPr>
          <a:xfrm>
            <a:off x="749808" y="197510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01952"/>
            <a:ext cx="5029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85" dirty="0">
                <a:solidFill>
                  <a:srgbClr val="1F2937"/>
                </a:solidFill>
              </a:rPr>
              <a:t>Login and registration</a:t>
            </a:r>
            <a:endParaRPr lang="en-US" sz="1885" dirty="0"/>
          </a:p>
        </p:txBody>
      </p:sp>
      <p:sp>
        <p:nvSpPr>
          <p:cNvPr id="11" name="Shape 9"/>
          <p:cNvSpPr/>
          <p:nvPr/>
        </p:nvSpPr>
        <p:spPr>
          <a:xfrm>
            <a:off x="749808" y="247802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404872"/>
            <a:ext cx="5029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85" dirty="0">
                <a:solidFill>
                  <a:srgbClr val="1F2937"/>
                </a:solidFill>
              </a:rPr>
              <a:t>Home screen with categories and products</a:t>
            </a:r>
            <a:endParaRPr lang="en-US" sz="1885" dirty="0"/>
          </a:p>
        </p:txBody>
      </p:sp>
      <p:sp>
        <p:nvSpPr>
          <p:cNvPr id="13" name="Shape 11"/>
          <p:cNvSpPr/>
          <p:nvPr/>
        </p:nvSpPr>
        <p:spPr>
          <a:xfrm>
            <a:off x="749808" y="298094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907792"/>
            <a:ext cx="5029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85" dirty="0">
                <a:solidFill>
                  <a:srgbClr val="1F2937"/>
                </a:solidFill>
              </a:rPr>
              <a:t>Search, product details, cart, and wishlist</a:t>
            </a:r>
            <a:endParaRPr lang="en-US" sz="1885" dirty="0"/>
          </a:p>
        </p:txBody>
      </p:sp>
      <p:sp>
        <p:nvSpPr>
          <p:cNvPr id="15" name="Shape 13"/>
          <p:cNvSpPr/>
          <p:nvPr/>
        </p:nvSpPr>
        <p:spPr>
          <a:xfrm>
            <a:off x="749808" y="348386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410712"/>
            <a:ext cx="5029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85" dirty="0">
                <a:solidFill>
                  <a:srgbClr val="1F2937"/>
                </a:solidFill>
              </a:rPr>
              <a:t>Manual checkout and order history</a:t>
            </a:r>
            <a:endParaRPr lang="en-US" sz="1885" dirty="0"/>
          </a:p>
        </p:txBody>
      </p:sp>
      <p:sp>
        <p:nvSpPr>
          <p:cNvPr id="17" name="Shape 15"/>
          <p:cNvSpPr/>
          <p:nvPr/>
        </p:nvSpPr>
        <p:spPr>
          <a:xfrm>
            <a:off x="749808" y="398678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913632"/>
            <a:ext cx="5029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85" dirty="0">
                <a:solidFill>
                  <a:srgbClr val="1F2937"/>
                </a:solidFill>
              </a:rPr>
              <a:t>Order detail with payment and delivery status</a:t>
            </a:r>
            <a:endParaRPr lang="en-US" sz="1885" dirty="0"/>
          </a:p>
        </p:txBody>
      </p:sp>
      <p:sp>
        <p:nvSpPr>
          <p:cNvPr id="19" name="Shape 17"/>
          <p:cNvSpPr/>
          <p:nvPr/>
        </p:nvSpPr>
        <p:spPr>
          <a:xfrm>
            <a:off x="8229600" y="1353312"/>
            <a:ext cx="2148840" cy="42062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1517904"/>
            <a:ext cx="1874520" cy="3822192"/>
          </a:xfrm>
          <a:prstGeom prst="roundRect">
            <a:avLst>
              <a:gd name="adj" fmla="val 5854"/>
            </a:avLst>
          </a:prstGeom>
          <a:solidFill>
            <a:srgbClr val="F9FAFB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1517904"/>
            <a:ext cx="18745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5632" y="16733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9" b="1" dirty="0">
                <a:solidFill>
                  <a:srgbClr val="FFFFFF"/>
                </a:solidFill>
              </a:rPr>
              <a:t>Customer Screens</a:t>
            </a:r>
            <a:endParaRPr lang="en-US" sz="1189" dirty="0"/>
          </a:p>
        </p:txBody>
      </p:sp>
      <p:sp>
        <p:nvSpPr>
          <p:cNvPr id="23" name="Shape 21"/>
          <p:cNvSpPr/>
          <p:nvPr/>
        </p:nvSpPr>
        <p:spPr>
          <a:xfrm>
            <a:off x="8549640" y="2286000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AF6EA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0224" y="2377440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Home</a:t>
            </a:r>
            <a:endParaRPr lang="en-US" sz="957" dirty="0"/>
          </a:p>
        </p:txBody>
      </p:sp>
      <p:sp>
        <p:nvSpPr>
          <p:cNvPr id="25" name="Shape 23"/>
          <p:cNvSpPr/>
          <p:nvPr/>
        </p:nvSpPr>
        <p:spPr>
          <a:xfrm>
            <a:off x="8549640" y="2761488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F7ED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0224" y="2852928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Product Detail</a:t>
            </a:r>
            <a:endParaRPr lang="en-US" sz="957" dirty="0"/>
          </a:p>
        </p:txBody>
      </p:sp>
      <p:sp>
        <p:nvSpPr>
          <p:cNvPr id="27" name="Shape 25"/>
          <p:cNvSpPr/>
          <p:nvPr/>
        </p:nvSpPr>
        <p:spPr>
          <a:xfrm>
            <a:off x="8549640" y="3236976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AF6EA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50224" y="3328416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Cart</a:t>
            </a:r>
            <a:endParaRPr lang="en-US" sz="957" dirty="0"/>
          </a:p>
        </p:txBody>
      </p:sp>
      <p:sp>
        <p:nvSpPr>
          <p:cNvPr id="29" name="Shape 27"/>
          <p:cNvSpPr/>
          <p:nvPr/>
        </p:nvSpPr>
        <p:spPr>
          <a:xfrm>
            <a:off x="8549640" y="3712464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F7ED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50224" y="3803904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Order Detail</a:t>
            </a:r>
            <a:endParaRPr lang="en-US" sz="957" dirty="0"/>
          </a:p>
        </p:txBody>
      </p:sp>
      <p:sp>
        <p:nvSpPr>
          <p:cNvPr id="31" name="Text 29"/>
          <p:cNvSpPr/>
          <p:nvPr/>
        </p:nvSpPr>
        <p:spPr>
          <a:xfrm>
            <a:off x="8549640" y="50566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8" i="1" dirty="0">
                <a:solidFill>
                  <a:srgbClr val="6B7280"/>
                </a:solidFill>
              </a:rPr>
              <a:t>Screenshot Placeholder</a:t>
            </a:r>
            <a:endParaRPr lang="en-US" sz="928" dirty="0"/>
          </a:p>
        </p:txBody>
      </p:sp>
      <p:sp>
        <p:nvSpPr>
          <p:cNvPr id="32" name="Shape 30"/>
          <p:cNvSpPr/>
          <p:nvPr/>
        </p:nvSpPr>
        <p:spPr>
          <a:xfrm>
            <a:off x="6720840" y="1417320"/>
            <a:ext cx="0" cy="4434840"/>
          </a:xfrm>
          <a:prstGeom prst="line">
            <a:avLst/>
          </a:prstGeom>
          <a:noFill/>
          <a:ln w="12700">
            <a:solidFill>
              <a:srgbClr val="DDE7D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-685800"/>
            <a:ext cx="3291840" cy="3291840"/>
          </a:xfrm>
          <a:prstGeom prst="arc">
            <a:avLst/>
          </a:prstGeom>
          <a:solidFill>
            <a:srgbClr val="EAF6EA"/>
          </a:solidFill>
          <a:ln w="12700">
            <a:solidFill>
              <a:srgbClr val="EAF6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394960"/>
            <a:ext cx="1828800" cy="1828800"/>
          </a:xfrm>
          <a:prstGeom prst="arc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0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App Features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955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9" dirty="0">
                <a:solidFill>
                  <a:srgbClr val="6B7280"/>
                </a:solidFill>
              </a:rPr>
              <a:t>Store management tools for admin</a:t>
            </a:r>
            <a:endParaRPr lang="en-US" sz="1449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11109960" cy="0"/>
          </a:xfrm>
          <a:prstGeom prst="line">
            <a:avLst/>
          </a:prstGeom>
          <a:noFill/>
          <a:ln w="12700">
            <a:solidFill>
              <a:srgbClr val="DD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44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10" b="1" dirty="0">
                <a:solidFill>
                  <a:srgbClr val="2E7D32"/>
                </a:solidFill>
              </a:rPr>
              <a:t>Admin side includes:</a:t>
            </a:r>
            <a:endParaRPr lang="en-US" sz="2210" dirty="0"/>
          </a:p>
        </p:txBody>
      </p:sp>
      <p:sp>
        <p:nvSpPr>
          <p:cNvPr id="9" name="Shape 7"/>
          <p:cNvSpPr/>
          <p:nvPr/>
        </p:nvSpPr>
        <p:spPr>
          <a:xfrm>
            <a:off x="749808" y="197510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01952"/>
            <a:ext cx="5029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85" dirty="0">
                <a:solidFill>
                  <a:srgbClr val="1F2937"/>
                </a:solidFill>
              </a:rPr>
              <a:t>Admin-only access</a:t>
            </a:r>
            <a:endParaRPr lang="en-US" sz="1885" dirty="0"/>
          </a:p>
        </p:txBody>
      </p:sp>
      <p:sp>
        <p:nvSpPr>
          <p:cNvPr id="11" name="Shape 9"/>
          <p:cNvSpPr/>
          <p:nvPr/>
        </p:nvSpPr>
        <p:spPr>
          <a:xfrm>
            <a:off x="749808" y="247802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404872"/>
            <a:ext cx="5029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85" dirty="0">
                <a:solidFill>
                  <a:srgbClr val="1F2937"/>
                </a:solidFill>
              </a:rPr>
              <a:t>Product and category management</a:t>
            </a:r>
            <a:endParaRPr lang="en-US" sz="1885" dirty="0"/>
          </a:p>
        </p:txBody>
      </p:sp>
      <p:sp>
        <p:nvSpPr>
          <p:cNvPr id="13" name="Shape 11"/>
          <p:cNvSpPr/>
          <p:nvPr/>
        </p:nvSpPr>
        <p:spPr>
          <a:xfrm>
            <a:off x="749808" y="298094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907792"/>
            <a:ext cx="5029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85" dirty="0">
                <a:solidFill>
                  <a:srgbClr val="1F2937"/>
                </a:solidFill>
              </a:rPr>
              <a:t>Grouped order management</a:t>
            </a:r>
            <a:endParaRPr lang="en-US" sz="1885" dirty="0"/>
          </a:p>
        </p:txBody>
      </p:sp>
      <p:sp>
        <p:nvSpPr>
          <p:cNvPr id="15" name="Shape 13"/>
          <p:cNvSpPr/>
          <p:nvPr/>
        </p:nvSpPr>
        <p:spPr>
          <a:xfrm>
            <a:off x="749808" y="348386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410712"/>
            <a:ext cx="5029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85" dirty="0">
                <a:solidFill>
                  <a:srgbClr val="1F2937"/>
                </a:solidFill>
              </a:rPr>
              <a:t>Fulfillment status updates</a:t>
            </a:r>
            <a:endParaRPr lang="en-US" sz="1885" dirty="0"/>
          </a:p>
        </p:txBody>
      </p:sp>
      <p:sp>
        <p:nvSpPr>
          <p:cNvPr id="17" name="Shape 15"/>
          <p:cNvSpPr/>
          <p:nvPr/>
        </p:nvSpPr>
        <p:spPr>
          <a:xfrm>
            <a:off x="749808" y="398678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913632"/>
            <a:ext cx="5029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85" dirty="0">
                <a:solidFill>
                  <a:srgbClr val="1F2937"/>
                </a:solidFill>
              </a:rPr>
              <a:t>Payment received with Bank, JazzCash, or EasyPaisa</a:t>
            </a:r>
            <a:endParaRPr lang="en-US" sz="1885" dirty="0"/>
          </a:p>
        </p:txBody>
      </p:sp>
      <p:sp>
        <p:nvSpPr>
          <p:cNvPr id="19" name="Shape 17"/>
          <p:cNvSpPr/>
          <p:nvPr/>
        </p:nvSpPr>
        <p:spPr>
          <a:xfrm>
            <a:off x="8229600" y="1353312"/>
            <a:ext cx="2148840" cy="42062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1517904"/>
            <a:ext cx="1874520" cy="3822192"/>
          </a:xfrm>
          <a:prstGeom prst="roundRect">
            <a:avLst>
              <a:gd name="adj" fmla="val 5854"/>
            </a:avLst>
          </a:prstGeom>
          <a:solidFill>
            <a:srgbClr val="F9FAFB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1517904"/>
            <a:ext cx="18745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5632" y="16733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9" b="1" dirty="0">
                <a:solidFill>
                  <a:srgbClr val="FFFFFF"/>
                </a:solidFill>
              </a:rPr>
              <a:t>Admin Screens</a:t>
            </a:r>
            <a:endParaRPr lang="en-US" sz="1189" dirty="0"/>
          </a:p>
        </p:txBody>
      </p:sp>
      <p:sp>
        <p:nvSpPr>
          <p:cNvPr id="23" name="Shape 21"/>
          <p:cNvSpPr/>
          <p:nvPr/>
        </p:nvSpPr>
        <p:spPr>
          <a:xfrm>
            <a:off x="8549640" y="2286000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AF6EA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0224" y="2377440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Orders</a:t>
            </a:r>
            <a:endParaRPr lang="en-US" sz="957" dirty="0"/>
          </a:p>
        </p:txBody>
      </p:sp>
      <p:sp>
        <p:nvSpPr>
          <p:cNvPr id="25" name="Shape 23"/>
          <p:cNvSpPr/>
          <p:nvPr/>
        </p:nvSpPr>
        <p:spPr>
          <a:xfrm>
            <a:off x="8549640" y="2761488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F7ED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0224" y="2852928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Payment</a:t>
            </a:r>
            <a:endParaRPr lang="en-US" sz="957" dirty="0"/>
          </a:p>
        </p:txBody>
      </p:sp>
      <p:sp>
        <p:nvSpPr>
          <p:cNvPr id="27" name="Shape 25"/>
          <p:cNvSpPr/>
          <p:nvPr/>
        </p:nvSpPr>
        <p:spPr>
          <a:xfrm>
            <a:off x="8549640" y="3236976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AF6EA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50224" y="3328416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Status</a:t>
            </a:r>
            <a:endParaRPr lang="en-US" sz="957" dirty="0"/>
          </a:p>
        </p:txBody>
      </p:sp>
      <p:sp>
        <p:nvSpPr>
          <p:cNvPr id="29" name="Shape 27"/>
          <p:cNvSpPr/>
          <p:nvPr/>
        </p:nvSpPr>
        <p:spPr>
          <a:xfrm>
            <a:off x="8549640" y="3712464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F7ED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50224" y="3803904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Insights</a:t>
            </a:r>
            <a:endParaRPr lang="en-US" sz="957" dirty="0"/>
          </a:p>
        </p:txBody>
      </p:sp>
      <p:sp>
        <p:nvSpPr>
          <p:cNvPr id="31" name="Text 29"/>
          <p:cNvSpPr/>
          <p:nvPr/>
        </p:nvSpPr>
        <p:spPr>
          <a:xfrm>
            <a:off x="8549640" y="50566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8" i="1" dirty="0">
                <a:solidFill>
                  <a:srgbClr val="6B7280"/>
                </a:solidFill>
              </a:rPr>
              <a:t>Screenshot Placeholder</a:t>
            </a:r>
            <a:endParaRPr lang="en-US" sz="928" dirty="0"/>
          </a:p>
        </p:txBody>
      </p:sp>
      <p:sp>
        <p:nvSpPr>
          <p:cNvPr id="32" name="Shape 30"/>
          <p:cNvSpPr/>
          <p:nvPr/>
        </p:nvSpPr>
        <p:spPr>
          <a:xfrm>
            <a:off x="6720840" y="1417320"/>
            <a:ext cx="0" cy="4434840"/>
          </a:xfrm>
          <a:prstGeom prst="line">
            <a:avLst/>
          </a:prstGeom>
          <a:noFill/>
          <a:ln w="12700">
            <a:solidFill>
              <a:srgbClr val="DDE7D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-685800"/>
            <a:ext cx="3291840" cy="3291840"/>
          </a:xfrm>
          <a:prstGeom prst="arc">
            <a:avLst/>
          </a:prstGeom>
          <a:solidFill>
            <a:srgbClr val="EAF6EA"/>
          </a:solidFill>
          <a:ln w="12700">
            <a:solidFill>
              <a:srgbClr val="EAF6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394960"/>
            <a:ext cx="1828800" cy="1828800"/>
          </a:xfrm>
          <a:prstGeom prst="arc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0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Payment Workflow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955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9" dirty="0">
                <a:solidFill>
                  <a:srgbClr val="6B7280"/>
                </a:solidFill>
              </a:rPr>
              <a:t>Manual payment confirmation process</a:t>
            </a:r>
            <a:endParaRPr lang="en-US" sz="1449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11109960" cy="0"/>
          </a:xfrm>
          <a:prstGeom prst="line">
            <a:avLst/>
          </a:prstGeom>
          <a:noFill/>
          <a:ln w="12700">
            <a:solidFill>
              <a:srgbClr val="DDE7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417320"/>
            <a:ext cx="621792" cy="6217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60020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</a:rPr>
              <a:t>1</a:t>
            </a:r>
            <a:endParaRPr lang="en-US" sz="169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73152" cy="1965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404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Customer places order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868680" y="2770632"/>
            <a:ext cx="19202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Order is saved as awaiting payment confirmation.</a:t>
            </a:r>
            <a:endParaRPr lang="en-US" sz="1587" dirty="0"/>
          </a:p>
        </p:txBody>
      </p:sp>
      <p:sp>
        <p:nvSpPr>
          <p:cNvPr id="14" name="Shape 12"/>
          <p:cNvSpPr/>
          <p:nvPr/>
        </p:nvSpPr>
        <p:spPr>
          <a:xfrm>
            <a:off x="4361688" y="1417320"/>
            <a:ext cx="621792" cy="6217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160020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</a:rPr>
              <a:t>2</a:t>
            </a:r>
            <a:endParaRPr lang="en-US" sz="1690" dirty="0"/>
          </a:p>
        </p:txBody>
      </p:sp>
      <p:sp>
        <p:nvSpPr>
          <p:cNvPr id="16" name="Shape 14"/>
          <p:cNvSpPr/>
          <p:nvPr/>
        </p:nvSpPr>
        <p:spPr>
          <a:xfrm>
            <a:off x="3493008" y="224028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93008" y="2240280"/>
            <a:ext cx="73152" cy="1965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1608" y="2404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Admin checks payment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3721608" y="2770632"/>
            <a:ext cx="19202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Payment is verified outside the app.</a:t>
            </a:r>
            <a:endParaRPr lang="en-US" sz="1587" dirty="0"/>
          </a:p>
        </p:txBody>
      </p:sp>
      <p:sp>
        <p:nvSpPr>
          <p:cNvPr id="20" name="Shape 18"/>
          <p:cNvSpPr/>
          <p:nvPr/>
        </p:nvSpPr>
        <p:spPr>
          <a:xfrm>
            <a:off x="7214616" y="1417320"/>
            <a:ext cx="621792" cy="6217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4616" y="160020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</a:rPr>
              <a:t>3</a:t>
            </a:r>
            <a:endParaRPr lang="en-US" sz="1690" dirty="0"/>
          </a:p>
        </p:txBody>
      </p:sp>
      <p:sp>
        <p:nvSpPr>
          <p:cNvPr id="22" name="Shape 20"/>
          <p:cNvSpPr/>
          <p:nvPr/>
        </p:nvSpPr>
        <p:spPr>
          <a:xfrm>
            <a:off x="6345936" y="224028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45936" y="2240280"/>
            <a:ext cx="73152" cy="1965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4536" y="2404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Admin selects channel</a:t>
            </a:r>
            <a:endParaRPr lang="en-US" sz="1820" dirty="0"/>
          </a:p>
        </p:txBody>
      </p:sp>
      <p:sp>
        <p:nvSpPr>
          <p:cNvPr id="25" name="Text 23"/>
          <p:cNvSpPr/>
          <p:nvPr/>
        </p:nvSpPr>
        <p:spPr>
          <a:xfrm>
            <a:off x="6574536" y="2770632"/>
            <a:ext cx="19202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Bank, JazzCash, or EasyPaisa is selected.</a:t>
            </a:r>
            <a:endParaRPr lang="en-US" sz="1587" dirty="0"/>
          </a:p>
        </p:txBody>
      </p:sp>
      <p:sp>
        <p:nvSpPr>
          <p:cNvPr id="26" name="Shape 24"/>
          <p:cNvSpPr/>
          <p:nvPr/>
        </p:nvSpPr>
        <p:spPr>
          <a:xfrm>
            <a:off x="10067544" y="1417320"/>
            <a:ext cx="621792" cy="6217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67544" y="160020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</a:rPr>
              <a:t>4</a:t>
            </a:r>
            <a:endParaRPr lang="en-US" sz="1690" dirty="0"/>
          </a:p>
        </p:txBody>
      </p:sp>
      <p:sp>
        <p:nvSpPr>
          <p:cNvPr id="28" name="Shape 26"/>
          <p:cNvSpPr/>
          <p:nvPr/>
        </p:nvSpPr>
        <p:spPr>
          <a:xfrm>
            <a:off x="9198864" y="224028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98864" y="2240280"/>
            <a:ext cx="73152" cy="1965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7464" y="2404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Payment received</a:t>
            </a:r>
            <a:endParaRPr lang="en-US" sz="1820" dirty="0"/>
          </a:p>
        </p:txBody>
      </p:sp>
      <p:sp>
        <p:nvSpPr>
          <p:cNvPr id="31" name="Text 29"/>
          <p:cNvSpPr/>
          <p:nvPr/>
        </p:nvSpPr>
        <p:spPr>
          <a:xfrm>
            <a:off x="9427464" y="2770632"/>
            <a:ext cx="19202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Customer sees payment received in order details.</a:t>
            </a:r>
            <a:endParaRPr lang="en-US" sz="158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-685800"/>
            <a:ext cx="3291840" cy="3291840"/>
          </a:xfrm>
          <a:prstGeom prst="arc">
            <a:avLst/>
          </a:prstGeom>
          <a:solidFill>
            <a:srgbClr val="EAF6EA"/>
          </a:solidFill>
          <a:ln w="12700">
            <a:solidFill>
              <a:srgbClr val="EAF6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394960"/>
            <a:ext cx="1828800" cy="1828800"/>
          </a:xfrm>
          <a:prstGeom prst="arc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0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&amp; Insights Dashboard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955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9" dirty="0">
                <a:solidFill>
                  <a:srgbClr val="6B7280"/>
                </a:solidFill>
              </a:rPr>
              <a:t>Admin can understand store performance</a:t>
            </a:r>
            <a:endParaRPr lang="en-US" sz="1449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11109960" cy="0"/>
          </a:xfrm>
          <a:prstGeom prst="line">
            <a:avLst/>
          </a:prstGeom>
          <a:noFill/>
          <a:ln w="12700">
            <a:solidFill>
              <a:srgbClr val="DDE7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49047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417320"/>
            <a:ext cx="5760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6" dirty="0">
                <a:solidFill>
                  <a:srgbClr val="1F2937"/>
                </a:solidFill>
              </a:rPr>
              <a:t>Gross sales total and average checkout value</a:t>
            </a:r>
            <a:endParaRPr lang="en-US" sz="1846" dirty="0"/>
          </a:p>
        </p:txBody>
      </p:sp>
      <p:sp>
        <p:nvSpPr>
          <p:cNvPr id="10" name="Shape 8"/>
          <p:cNvSpPr/>
          <p:nvPr/>
        </p:nvSpPr>
        <p:spPr>
          <a:xfrm>
            <a:off x="749808" y="192938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856232"/>
            <a:ext cx="5760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6" dirty="0">
                <a:solidFill>
                  <a:srgbClr val="1F2937"/>
                </a:solidFill>
              </a:rPr>
              <a:t>Number of checkouts and order lines</a:t>
            </a:r>
            <a:endParaRPr lang="en-US" sz="1846" dirty="0"/>
          </a:p>
        </p:txBody>
      </p:sp>
      <p:sp>
        <p:nvSpPr>
          <p:cNvPr id="12" name="Shape 10"/>
          <p:cNvSpPr/>
          <p:nvPr/>
        </p:nvSpPr>
        <p:spPr>
          <a:xfrm>
            <a:off x="749808" y="236829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295144"/>
            <a:ext cx="5760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6" dirty="0">
                <a:solidFill>
                  <a:srgbClr val="1F2937"/>
                </a:solidFill>
              </a:rPr>
              <a:t>Sales trend chart with daily, weekly, monthly, and yearly views</a:t>
            </a:r>
            <a:endParaRPr lang="en-US" sz="1846" dirty="0"/>
          </a:p>
        </p:txBody>
      </p:sp>
      <p:sp>
        <p:nvSpPr>
          <p:cNvPr id="14" name="Shape 12"/>
          <p:cNvSpPr/>
          <p:nvPr/>
        </p:nvSpPr>
        <p:spPr>
          <a:xfrm>
            <a:off x="749808" y="280720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734056"/>
            <a:ext cx="5760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6" dirty="0">
                <a:solidFill>
                  <a:srgbClr val="1F2937"/>
                </a:solidFill>
              </a:rPr>
              <a:t>Payment and fulfillment status breakdowns</a:t>
            </a:r>
            <a:endParaRPr lang="en-US" sz="1846" dirty="0"/>
          </a:p>
        </p:txBody>
      </p:sp>
      <p:sp>
        <p:nvSpPr>
          <p:cNvPr id="16" name="Shape 14"/>
          <p:cNvSpPr/>
          <p:nvPr/>
        </p:nvSpPr>
        <p:spPr>
          <a:xfrm>
            <a:off x="749808" y="324612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172968"/>
            <a:ext cx="5760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6" dirty="0">
                <a:solidFill>
                  <a:srgbClr val="1F2937"/>
                </a:solidFill>
              </a:rPr>
              <a:t>Confirmed payment amount by Bank, JazzCash, and EasyPaisa</a:t>
            </a:r>
            <a:endParaRPr lang="en-US" sz="1846" dirty="0"/>
          </a:p>
        </p:txBody>
      </p:sp>
      <p:sp>
        <p:nvSpPr>
          <p:cNvPr id="18" name="Shape 16"/>
          <p:cNvSpPr/>
          <p:nvPr/>
        </p:nvSpPr>
        <p:spPr>
          <a:xfrm>
            <a:off x="749808" y="368503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611880"/>
            <a:ext cx="5760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6" dirty="0">
                <a:solidFill>
                  <a:srgbClr val="1F2937"/>
                </a:solidFill>
              </a:rPr>
              <a:t>Top products by revenue and units sold</a:t>
            </a:r>
            <a:endParaRPr lang="en-US" sz="1846" dirty="0"/>
          </a:p>
        </p:txBody>
      </p:sp>
      <p:sp>
        <p:nvSpPr>
          <p:cNvPr id="20" name="Shape 18"/>
          <p:cNvSpPr/>
          <p:nvPr/>
        </p:nvSpPr>
        <p:spPr>
          <a:xfrm>
            <a:off x="8046720" y="1143000"/>
            <a:ext cx="2148840" cy="42062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3880" y="1307592"/>
            <a:ext cx="1874520" cy="3822192"/>
          </a:xfrm>
          <a:prstGeom prst="roundRect">
            <a:avLst>
              <a:gd name="adj" fmla="val 5854"/>
            </a:avLst>
          </a:prstGeom>
          <a:solidFill>
            <a:srgbClr val="F9FAFB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1307592"/>
            <a:ext cx="18745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14630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9" b="1" dirty="0">
                <a:solidFill>
                  <a:srgbClr val="FFFFFF"/>
                </a:solidFill>
              </a:rPr>
              <a:t>Sales &amp; Insights</a:t>
            </a:r>
            <a:endParaRPr lang="en-US" sz="1189" dirty="0"/>
          </a:p>
        </p:txBody>
      </p:sp>
      <p:sp>
        <p:nvSpPr>
          <p:cNvPr id="24" name="Shape 22"/>
          <p:cNvSpPr/>
          <p:nvPr/>
        </p:nvSpPr>
        <p:spPr>
          <a:xfrm>
            <a:off x="8366760" y="2075688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AF6EA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67344" y="2167128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Daily / Weekly</a:t>
            </a:r>
            <a:endParaRPr lang="en-US" sz="957" dirty="0"/>
          </a:p>
        </p:txBody>
      </p:sp>
      <p:sp>
        <p:nvSpPr>
          <p:cNvPr id="26" name="Shape 24"/>
          <p:cNvSpPr/>
          <p:nvPr/>
        </p:nvSpPr>
        <p:spPr>
          <a:xfrm>
            <a:off x="8366760" y="2551176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F7ED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67344" y="2642616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Monthly / Yearly</a:t>
            </a:r>
            <a:endParaRPr lang="en-US" sz="957" dirty="0"/>
          </a:p>
        </p:txBody>
      </p:sp>
      <p:sp>
        <p:nvSpPr>
          <p:cNvPr id="28" name="Shape 26"/>
          <p:cNvSpPr/>
          <p:nvPr/>
        </p:nvSpPr>
        <p:spPr>
          <a:xfrm>
            <a:off x="8366760" y="3026664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AF6EA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67344" y="3118104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Bank / JazzCash</a:t>
            </a:r>
            <a:endParaRPr lang="en-US" sz="957" dirty="0"/>
          </a:p>
        </p:txBody>
      </p:sp>
      <p:sp>
        <p:nvSpPr>
          <p:cNvPr id="30" name="Shape 28"/>
          <p:cNvSpPr/>
          <p:nvPr/>
        </p:nvSpPr>
        <p:spPr>
          <a:xfrm>
            <a:off x="8366760" y="3502152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F7ED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67344" y="3593592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Top Products</a:t>
            </a:r>
            <a:endParaRPr lang="en-US" sz="957" dirty="0"/>
          </a:p>
        </p:txBody>
      </p:sp>
      <p:sp>
        <p:nvSpPr>
          <p:cNvPr id="32" name="Text 30"/>
          <p:cNvSpPr/>
          <p:nvPr/>
        </p:nvSpPr>
        <p:spPr>
          <a:xfrm>
            <a:off x="8366760" y="48463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8" i="1" dirty="0">
                <a:solidFill>
                  <a:srgbClr val="6B7280"/>
                </a:solidFill>
              </a:rPr>
              <a:t>Screenshot Placeholder</a:t>
            </a:r>
            <a:endParaRPr lang="en-US" sz="9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-685800"/>
            <a:ext cx="3291840" cy="3291840"/>
          </a:xfrm>
          <a:prstGeom prst="arc">
            <a:avLst/>
          </a:prstGeom>
          <a:solidFill>
            <a:srgbClr val="EAF6EA"/>
          </a:solidFill>
          <a:ln w="12700">
            <a:solidFill>
              <a:srgbClr val="EAF6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394960"/>
            <a:ext cx="1828800" cy="1828800"/>
          </a:xfrm>
          <a:prstGeom prst="arc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0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Collections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955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9" dirty="0">
                <a:solidFill>
                  <a:srgbClr val="6B7280"/>
                </a:solidFill>
              </a:rPr>
              <a:t>Main Cloud Firestore data structure</a:t>
            </a:r>
            <a:endParaRPr lang="en-US" sz="1449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11109960" cy="0"/>
          </a:xfrm>
          <a:prstGeom prst="line">
            <a:avLst/>
          </a:prstGeom>
          <a:noFill/>
          <a:ln w="12700">
            <a:solidFill>
              <a:srgbClr val="DDE7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71600"/>
            <a:ext cx="73152" cy="1371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5361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users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960120" y="1901952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Customer profiles, admin flag, shipping address.</a:t>
            </a:r>
            <a:endParaRPr lang="en-US" sz="1587" dirty="0"/>
          </a:p>
        </p:txBody>
      </p:sp>
      <p:sp>
        <p:nvSpPr>
          <p:cNvPr id="12" name="Shape 10"/>
          <p:cNvSpPr/>
          <p:nvPr/>
        </p:nvSpPr>
        <p:spPr>
          <a:xfrm>
            <a:off x="365760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1371600"/>
            <a:ext cx="73152" cy="1371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5361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products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3886200" y="1901952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Title, price, category, image, sale details.</a:t>
            </a:r>
            <a:endParaRPr lang="en-US" sz="1587" dirty="0"/>
          </a:p>
        </p:txBody>
      </p:sp>
      <p:sp>
        <p:nvSpPr>
          <p:cNvPr id="16" name="Shape 14"/>
          <p:cNvSpPr/>
          <p:nvPr/>
        </p:nvSpPr>
        <p:spPr>
          <a:xfrm>
            <a:off x="6583680" y="1371600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1371600"/>
            <a:ext cx="73152" cy="13716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orders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6812280" y="190195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Order line, groupOrderId, payment status, paid via, fulfillment status.</a:t>
            </a:r>
            <a:endParaRPr lang="en-US" sz="1587" dirty="0"/>
          </a:p>
        </p:txBody>
      </p:sp>
      <p:sp>
        <p:nvSpPr>
          <p:cNvPr id="20" name="Shape 18"/>
          <p:cNvSpPr/>
          <p:nvPr/>
        </p:nvSpPr>
        <p:spPr>
          <a:xfrm>
            <a:off x="731520" y="324612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246120"/>
            <a:ext cx="73152" cy="1371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4107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product_reviews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960120" y="3776472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Rating, comment, user, and product reference.</a:t>
            </a:r>
            <a:endParaRPr lang="en-US" sz="1587" dirty="0"/>
          </a:p>
        </p:txBody>
      </p:sp>
      <p:sp>
        <p:nvSpPr>
          <p:cNvPr id="24" name="Shape 22"/>
          <p:cNvSpPr/>
          <p:nvPr/>
        </p:nvSpPr>
        <p:spPr>
          <a:xfrm>
            <a:off x="489204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3246120"/>
            <a:ext cx="73152" cy="1371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410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notifications / app alerts</a:t>
            </a:r>
            <a:endParaRPr lang="en-US" sz="1820" dirty="0"/>
          </a:p>
        </p:txBody>
      </p:sp>
      <p:sp>
        <p:nvSpPr>
          <p:cNvPr id="27" name="Text 25"/>
          <p:cNvSpPr/>
          <p:nvPr/>
        </p:nvSpPr>
        <p:spPr>
          <a:xfrm>
            <a:off x="5120640" y="377647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Local app alerts and notification-related data if used.</a:t>
            </a:r>
            <a:endParaRPr lang="en-US" sz="1587" dirty="0"/>
          </a:p>
        </p:txBody>
      </p:sp>
      <p:sp>
        <p:nvSpPr>
          <p:cNvPr id="28" name="Text 26"/>
          <p:cNvSpPr/>
          <p:nvPr/>
        </p:nvSpPr>
        <p:spPr>
          <a:xfrm>
            <a:off x="777240" y="548640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dirty="0">
                <a:solidFill>
                  <a:srgbClr val="6B7280"/>
                </a:solidFill>
              </a:rPr>
              <a:t>Orders are grouped using groupOrderId so one checkout can contain multiple product lines.</a:t>
            </a:r>
            <a:endParaRPr lang="en-US" sz="1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-685800"/>
            <a:ext cx="3291840" cy="3291840"/>
          </a:xfrm>
          <a:prstGeom prst="arc">
            <a:avLst/>
          </a:prstGeom>
          <a:solidFill>
            <a:srgbClr val="EAF6EA"/>
          </a:solidFill>
          <a:ln w="12700">
            <a:solidFill>
              <a:srgbClr val="EAF6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394960"/>
            <a:ext cx="1828800" cy="1828800"/>
          </a:xfrm>
          <a:prstGeom prst="arc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0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&amp; Rules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955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9" dirty="0">
                <a:solidFill>
                  <a:srgbClr val="6B7280"/>
                </a:solidFill>
              </a:rPr>
              <a:t>Basic protection for customer and admin data</a:t>
            </a:r>
            <a:endParaRPr lang="en-US" sz="1449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11109960" cy="0"/>
          </a:xfrm>
          <a:prstGeom prst="line">
            <a:avLst/>
          </a:prstGeom>
          <a:noFill/>
          <a:ln w="12700">
            <a:solidFill>
              <a:srgbClr val="DDE7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508760"/>
            <a:ext cx="6629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15" dirty="0">
                <a:solidFill>
                  <a:srgbClr val="1F2937"/>
                </a:solidFill>
              </a:rPr>
              <a:t>Firebase Authentication protects login and user identity.</a:t>
            </a:r>
            <a:endParaRPr lang="en-US" sz="2015" dirty="0"/>
          </a:p>
        </p:txBody>
      </p:sp>
      <p:sp>
        <p:nvSpPr>
          <p:cNvPr id="10" name="Shape 8"/>
          <p:cNvSpPr/>
          <p:nvPr/>
        </p:nvSpPr>
        <p:spPr>
          <a:xfrm>
            <a:off x="777240" y="213055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057400"/>
            <a:ext cx="6629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15" dirty="0">
                <a:solidFill>
                  <a:srgbClr val="1F2937"/>
                </a:solidFill>
              </a:rPr>
              <a:t>Customers can create and read their own orders.</a:t>
            </a:r>
            <a:endParaRPr lang="en-US" sz="2015" dirty="0"/>
          </a:p>
        </p:txBody>
      </p:sp>
      <p:sp>
        <p:nvSpPr>
          <p:cNvPr id="12" name="Shape 10"/>
          <p:cNvSpPr/>
          <p:nvPr/>
        </p:nvSpPr>
        <p:spPr>
          <a:xfrm>
            <a:off x="777240" y="267919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2606040"/>
            <a:ext cx="6629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15" dirty="0">
                <a:solidFill>
                  <a:srgbClr val="1F2937"/>
                </a:solidFill>
              </a:rPr>
              <a:t>Admin can view and update orders.</a:t>
            </a:r>
            <a:endParaRPr lang="en-US" sz="2015" dirty="0"/>
          </a:p>
        </p:txBody>
      </p:sp>
      <p:sp>
        <p:nvSpPr>
          <p:cNvPr id="14" name="Shape 12"/>
          <p:cNvSpPr/>
          <p:nvPr/>
        </p:nvSpPr>
        <p:spPr>
          <a:xfrm>
            <a:off x="777240" y="322783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3154680"/>
            <a:ext cx="6629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15" dirty="0">
                <a:solidFill>
                  <a:srgbClr val="1F2937"/>
                </a:solidFill>
              </a:rPr>
              <a:t>Admin role is controlled in the user profile.</a:t>
            </a:r>
            <a:endParaRPr lang="en-US" sz="2015" dirty="0"/>
          </a:p>
        </p:txBody>
      </p:sp>
      <p:sp>
        <p:nvSpPr>
          <p:cNvPr id="16" name="Shape 14"/>
          <p:cNvSpPr/>
          <p:nvPr/>
        </p:nvSpPr>
        <p:spPr>
          <a:xfrm>
            <a:off x="777240" y="377647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" y="3703320"/>
            <a:ext cx="6629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15" dirty="0">
                <a:solidFill>
                  <a:srgbClr val="1F2937"/>
                </a:solidFill>
              </a:rPr>
              <a:t>Firestore rules prevent normal users from changing protected admin data.</a:t>
            </a:r>
            <a:endParaRPr lang="en-US" sz="2015" dirty="0"/>
          </a:p>
        </p:txBody>
      </p:sp>
      <p:sp>
        <p:nvSpPr>
          <p:cNvPr id="18" name="Shape 16"/>
          <p:cNvSpPr/>
          <p:nvPr/>
        </p:nvSpPr>
        <p:spPr>
          <a:xfrm>
            <a:off x="8229600" y="160020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600200"/>
            <a:ext cx="73152" cy="3474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1764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Access Control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8458200" y="2130552"/>
            <a:ext cx="233172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Customer data is separated from admin actions. This keeps order and payment management safer.</a:t>
            </a:r>
            <a:endParaRPr lang="en-US" sz="158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-685800"/>
            <a:ext cx="3291840" cy="3291840"/>
          </a:xfrm>
          <a:prstGeom prst="arc">
            <a:avLst/>
          </a:prstGeom>
          <a:solidFill>
            <a:srgbClr val="EAF6EA"/>
          </a:solidFill>
          <a:ln w="12700">
            <a:solidFill>
              <a:srgbClr val="EAF6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394960"/>
            <a:ext cx="1828800" cy="1828800"/>
          </a:xfrm>
          <a:prstGeom prst="arc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0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&amp; Validation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955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9" dirty="0">
                <a:solidFill>
                  <a:srgbClr val="6B7280"/>
                </a:solidFill>
              </a:rPr>
              <a:t>What was checked during development</a:t>
            </a:r>
            <a:endParaRPr lang="en-US" sz="1449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11109960" cy="0"/>
          </a:xfrm>
          <a:prstGeom prst="line">
            <a:avLst/>
          </a:prstGeom>
          <a:noFill/>
          <a:ln w="12700">
            <a:solidFill>
              <a:srgbClr val="DDE7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3337560" cy="36118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17320"/>
            <a:ext cx="73152" cy="3611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581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Customer Flow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960120" y="1947672"/>
            <a:ext cx="292608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Login/Register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Browse products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Add to cart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Checkout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View order details</a:t>
            </a:r>
            <a:endParaRPr lang="en-US" sz="1587" dirty="0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3337560" cy="36118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417320"/>
            <a:ext cx="73152" cy="3611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581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Admin Flow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4663440" y="1947672"/>
            <a:ext cx="292608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View grouped orders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Update status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Confirm payment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Choose payment source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Check insights</a:t>
            </a:r>
            <a:endParaRPr lang="en-US" sz="1587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337560" cy="36118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417320"/>
            <a:ext cx="73152" cy="36118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1581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Validation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8366760" y="1947672"/>
            <a:ext cx="292608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Firestore read/write checks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Security behavior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Charts and reports</a:t>
            </a:r>
            <a:endParaRPr lang="en-US" sz="1587" dirty="0"/>
          </a:p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Dart analyzer checks</a:t>
            </a:r>
            <a:endParaRPr lang="en-US" sz="158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-685800"/>
            <a:ext cx="3291840" cy="3291840"/>
          </a:xfrm>
          <a:prstGeom prst="arc">
            <a:avLst/>
          </a:prstGeom>
          <a:solidFill>
            <a:srgbClr val="EAF6EA"/>
          </a:solidFill>
          <a:ln w="12700">
            <a:solidFill>
              <a:srgbClr val="EAF6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394960"/>
            <a:ext cx="1828800" cy="1828800"/>
          </a:xfrm>
          <a:prstGeom prst="arc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0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Faced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955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9" dirty="0">
                <a:solidFill>
                  <a:srgbClr val="6B7280"/>
                </a:solidFill>
              </a:rPr>
              <a:t>Important problems solved in the project</a:t>
            </a:r>
            <a:endParaRPr lang="en-US" sz="1449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11109960" cy="0"/>
          </a:xfrm>
          <a:prstGeom prst="line">
            <a:avLst/>
          </a:prstGeom>
          <a:noFill/>
          <a:ln w="12700">
            <a:solidFill>
              <a:srgbClr val="DDE7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2763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554480"/>
            <a:ext cx="73152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80" dirty="0">
                <a:solidFill>
                  <a:srgbClr val="1F2937"/>
                </a:solidFill>
              </a:rPr>
              <a:t>Managing grouped orders with multiple product lines.</a:t>
            </a:r>
            <a:endParaRPr lang="en-US" sz="2080" dirty="0"/>
          </a:p>
        </p:txBody>
      </p:sp>
      <p:sp>
        <p:nvSpPr>
          <p:cNvPr id="10" name="Shape 8"/>
          <p:cNvSpPr/>
          <p:nvPr/>
        </p:nvSpPr>
        <p:spPr>
          <a:xfrm>
            <a:off x="822960" y="219456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121408"/>
            <a:ext cx="73152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80" dirty="0">
                <a:solidFill>
                  <a:srgbClr val="1F2937"/>
                </a:solidFill>
              </a:rPr>
              <a:t>Handling manual payments without an online gateway.</a:t>
            </a:r>
            <a:endParaRPr lang="en-US" sz="2080" dirty="0"/>
          </a:p>
        </p:txBody>
      </p:sp>
      <p:sp>
        <p:nvSpPr>
          <p:cNvPr id="12" name="Shape 10"/>
          <p:cNvSpPr/>
          <p:nvPr/>
        </p:nvSpPr>
        <p:spPr>
          <a:xfrm>
            <a:off x="822960" y="276148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2688336"/>
            <a:ext cx="73152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80" dirty="0">
                <a:solidFill>
                  <a:srgbClr val="1F2937"/>
                </a:solidFill>
              </a:rPr>
              <a:t>Showing readable labels instead of raw database values.</a:t>
            </a:r>
            <a:endParaRPr lang="en-US" sz="2080" dirty="0"/>
          </a:p>
        </p:txBody>
      </p:sp>
      <p:sp>
        <p:nvSpPr>
          <p:cNvPr id="14" name="Shape 12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255264"/>
            <a:ext cx="73152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80" dirty="0">
                <a:solidFill>
                  <a:srgbClr val="1F2937"/>
                </a:solidFill>
              </a:rPr>
              <a:t>Creating sales analytics from Firestore data.</a:t>
            </a:r>
            <a:endParaRPr lang="en-US" sz="2080" dirty="0"/>
          </a:p>
        </p:txBody>
      </p:sp>
      <p:sp>
        <p:nvSpPr>
          <p:cNvPr id="16" name="Shape 14"/>
          <p:cNvSpPr/>
          <p:nvPr/>
        </p:nvSpPr>
        <p:spPr>
          <a:xfrm>
            <a:off x="822960" y="389534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3822192"/>
            <a:ext cx="73152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80" dirty="0">
                <a:solidFill>
                  <a:srgbClr val="1F2937"/>
                </a:solidFill>
              </a:rPr>
              <a:t>Separating customer and admin behavior safely.</a:t>
            </a:r>
            <a:endParaRPr lang="en-US" sz="2080" dirty="0"/>
          </a:p>
        </p:txBody>
      </p:sp>
      <p:sp>
        <p:nvSpPr>
          <p:cNvPr id="18" name="Shape 16"/>
          <p:cNvSpPr/>
          <p:nvPr/>
        </p:nvSpPr>
        <p:spPr>
          <a:xfrm>
            <a:off x="8595360" y="1325880"/>
            <a:ext cx="2148840" cy="42062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1490472"/>
            <a:ext cx="1874520" cy="3822192"/>
          </a:xfrm>
          <a:prstGeom prst="roundRect">
            <a:avLst>
              <a:gd name="adj" fmla="val 5854"/>
            </a:avLst>
          </a:prstGeom>
          <a:solidFill>
            <a:srgbClr val="F9FAFB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2520" y="1490472"/>
            <a:ext cx="18745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51392" y="16459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9" b="1" dirty="0">
                <a:solidFill>
                  <a:srgbClr val="FFFFFF"/>
                </a:solidFill>
              </a:rPr>
              <a:t>Status Labels</a:t>
            </a:r>
            <a:endParaRPr lang="en-US" sz="1189" dirty="0"/>
          </a:p>
        </p:txBody>
      </p:sp>
      <p:sp>
        <p:nvSpPr>
          <p:cNvPr id="22" name="Shape 20"/>
          <p:cNvSpPr/>
          <p:nvPr/>
        </p:nvSpPr>
        <p:spPr>
          <a:xfrm>
            <a:off x="8915400" y="2258568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AF6EA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15984" y="2350008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Payment received</a:t>
            </a:r>
            <a:endParaRPr lang="en-US" sz="957" dirty="0"/>
          </a:p>
        </p:txBody>
      </p:sp>
      <p:sp>
        <p:nvSpPr>
          <p:cNvPr id="24" name="Shape 22"/>
          <p:cNvSpPr/>
          <p:nvPr/>
        </p:nvSpPr>
        <p:spPr>
          <a:xfrm>
            <a:off x="8915400" y="2734056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F7ED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15984" y="2825496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Preparing</a:t>
            </a:r>
            <a:endParaRPr lang="en-US" sz="957" dirty="0"/>
          </a:p>
        </p:txBody>
      </p:sp>
      <p:sp>
        <p:nvSpPr>
          <p:cNvPr id="26" name="Shape 24"/>
          <p:cNvSpPr/>
          <p:nvPr/>
        </p:nvSpPr>
        <p:spPr>
          <a:xfrm>
            <a:off x="8915400" y="3209544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AF6EA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15984" y="3300984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Shipped</a:t>
            </a:r>
            <a:endParaRPr lang="en-US" sz="957" dirty="0"/>
          </a:p>
        </p:txBody>
      </p:sp>
      <p:sp>
        <p:nvSpPr>
          <p:cNvPr id="28" name="Shape 26"/>
          <p:cNvSpPr/>
          <p:nvPr/>
        </p:nvSpPr>
        <p:spPr>
          <a:xfrm>
            <a:off x="8915400" y="3685032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F7ED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15984" y="3776472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7" dirty="0">
                <a:solidFill>
                  <a:srgbClr val="1F2937"/>
                </a:solidFill>
              </a:rPr>
              <a:t>Delivered</a:t>
            </a:r>
            <a:endParaRPr lang="en-US" sz="957" dirty="0"/>
          </a:p>
        </p:txBody>
      </p:sp>
      <p:sp>
        <p:nvSpPr>
          <p:cNvPr id="30" name="Text 28"/>
          <p:cNvSpPr/>
          <p:nvPr/>
        </p:nvSpPr>
        <p:spPr>
          <a:xfrm>
            <a:off x="8915400" y="50292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8" i="1" dirty="0">
                <a:solidFill>
                  <a:srgbClr val="6B7280"/>
                </a:solidFill>
              </a:rPr>
              <a:t>Screenshot Placeholder</a:t>
            </a:r>
            <a:endParaRPr lang="en-US" sz="9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-685800"/>
            <a:ext cx="3291840" cy="3291840"/>
          </a:xfrm>
          <a:prstGeom prst="arc">
            <a:avLst/>
          </a:prstGeom>
          <a:solidFill>
            <a:srgbClr val="EAF6EA"/>
          </a:solidFill>
          <a:ln w="12700">
            <a:solidFill>
              <a:srgbClr val="EAF6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394960"/>
            <a:ext cx="1828800" cy="1828800"/>
          </a:xfrm>
          <a:prstGeom prst="arc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0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Enhancements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955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9" dirty="0">
                <a:solidFill>
                  <a:srgbClr val="6B7280"/>
                </a:solidFill>
              </a:rPr>
              <a:t>Features that can be added later</a:t>
            </a:r>
            <a:endParaRPr lang="en-US" sz="1449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11109960" cy="0"/>
          </a:xfrm>
          <a:prstGeom prst="line">
            <a:avLst/>
          </a:prstGeom>
          <a:noFill/>
          <a:ln w="12700">
            <a:solidFill>
              <a:srgbClr val="DDE7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17320"/>
            <a:ext cx="73152" cy="11155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5819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Online payment gateway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960120" y="1947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Future improvement</a:t>
            </a:r>
            <a:endParaRPr lang="en-US" sz="1587" dirty="0"/>
          </a:p>
        </p:txBody>
      </p:sp>
      <p:sp>
        <p:nvSpPr>
          <p:cNvPr id="12" name="Shape 10"/>
          <p:cNvSpPr/>
          <p:nvPr/>
        </p:nvSpPr>
        <p:spPr>
          <a:xfrm>
            <a:off x="3547872" y="1417320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7872" y="1417320"/>
            <a:ext cx="73152" cy="1115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15819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Invoice / receipt generation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3776472" y="1947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Future improvement</a:t>
            </a:r>
            <a:endParaRPr lang="en-US" sz="1587" dirty="0"/>
          </a:p>
        </p:txBody>
      </p:sp>
      <p:sp>
        <p:nvSpPr>
          <p:cNvPr id="16" name="Shape 14"/>
          <p:cNvSpPr/>
          <p:nvPr/>
        </p:nvSpPr>
        <p:spPr>
          <a:xfrm>
            <a:off x="6364224" y="1417320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4224" y="1417320"/>
            <a:ext cx="73152" cy="11155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15819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Server push notifications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6592824" y="1947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Future improvement</a:t>
            </a:r>
            <a:endParaRPr lang="en-US" sz="1587" dirty="0"/>
          </a:p>
        </p:txBody>
      </p:sp>
      <p:sp>
        <p:nvSpPr>
          <p:cNvPr id="20" name="Shape 18"/>
          <p:cNvSpPr/>
          <p:nvPr/>
        </p:nvSpPr>
        <p:spPr>
          <a:xfrm>
            <a:off x="9180576" y="1417320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0576" y="1417320"/>
            <a:ext cx="73152" cy="1115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9176" y="15819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Stock management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9409176" y="1947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Future improvement</a:t>
            </a:r>
            <a:endParaRPr lang="en-US" sz="1587" dirty="0"/>
          </a:p>
        </p:txBody>
      </p:sp>
      <p:sp>
        <p:nvSpPr>
          <p:cNvPr id="24" name="Shape 22"/>
          <p:cNvSpPr/>
          <p:nvPr/>
        </p:nvSpPr>
        <p:spPr>
          <a:xfrm>
            <a:off x="731520" y="3017520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017520"/>
            <a:ext cx="73152" cy="11155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1821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Delivery tracking</a:t>
            </a:r>
            <a:endParaRPr lang="en-US" sz="1820" dirty="0"/>
          </a:p>
        </p:txBody>
      </p:sp>
      <p:sp>
        <p:nvSpPr>
          <p:cNvPr id="27" name="Text 25"/>
          <p:cNvSpPr/>
          <p:nvPr/>
        </p:nvSpPr>
        <p:spPr>
          <a:xfrm>
            <a:off x="960120" y="35478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Future improvement</a:t>
            </a:r>
            <a:endParaRPr lang="en-US" sz="1587" dirty="0"/>
          </a:p>
        </p:txBody>
      </p:sp>
      <p:sp>
        <p:nvSpPr>
          <p:cNvPr id="28" name="Shape 26"/>
          <p:cNvSpPr/>
          <p:nvPr/>
        </p:nvSpPr>
        <p:spPr>
          <a:xfrm>
            <a:off x="3547872" y="3017520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47872" y="3017520"/>
            <a:ext cx="73152" cy="1115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31821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Export sales reports</a:t>
            </a:r>
            <a:endParaRPr lang="en-US" sz="1820" dirty="0"/>
          </a:p>
        </p:txBody>
      </p:sp>
      <p:sp>
        <p:nvSpPr>
          <p:cNvPr id="31" name="Text 29"/>
          <p:cNvSpPr/>
          <p:nvPr/>
        </p:nvSpPr>
        <p:spPr>
          <a:xfrm>
            <a:off x="3776472" y="35478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Future improvement</a:t>
            </a:r>
            <a:endParaRPr lang="en-US" sz="1587" dirty="0"/>
          </a:p>
        </p:txBody>
      </p:sp>
      <p:sp>
        <p:nvSpPr>
          <p:cNvPr id="32" name="Shape 30"/>
          <p:cNvSpPr/>
          <p:nvPr/>
        </p:nvSpPr>
        <p:spPr>
          <a:xfrm>
            <a:off x="6364224" y="3017520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64224" y="3017520"/>
            <a:ext cx="73152" cy="11155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92824" y="31821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Better role management</a:t>
            </a:r>
            <a:endParaRPr lang="en-US" sz="1820" dirty="0"/>
          </a:p>
        </p:txBody>
      </p:sp>
      <p:sp>
        <p:nvSpPr>
          <p:cNvPr id="35" name="Text 33"/>
          <p:cNvSpPr/>
          <p:nvPr/>
        </p:nvSpPr>
        <p:spPr>
          <a:xfrm>
            <a:off x="6592824" y="35478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Future improvement</a:t>
            </a:r>
            <a:endParaRPr lang="en-US" sz="1587" dirty="0"/>
          </a:p>
        </p:txBody>
      </p:sp>
      <p:sp>
        <p:nvSpPr>
          <p:cNvPr id="36" name="Shape 34"/>
          <p:cNvSpPr/>
          <p:nvPr/>
        </p:nvSpPr>
        <p:spPr>
          <a:xfrm>
            <a:off x="9180576" y="3017520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80576" y="3017520"/>
            <a:ext cx="73152" cy="1115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09176" y="31821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2301A"/>
                </a:solidFill>
              </a:rPr>
              <a:t>Advanced analytics</a:t>
            </a:r>
            <a:endParaRPr lang="en-US" sz="1820" dirty="0"/>
          </a:p>
        </p:txBody>
      </p:sp>
      <p:sp>
        <p:nvSpPr>
          <p:cNvPr id="39" name="Text 37"/>
          <p:cNvSpPr/>
          <p:nvPr/>
        </p:nvSpPr>
        <p:spPr>
          <a:xfrm>
            <a:off x="9409176" y="35478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7" dirty="0">
                <a:solidFill>
                  <a:srgbClr val="6B7280"/>
                </a:solidFill>
              </a:rPr>
              <a:t>Future improvement</a:t>
            </a:r>
            <a:endParaRPr lang="en-US" sz="158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-685800"/>
            <a:ext cx="3291840" cy="3291840"/>
          </a:xfrm>
          <a:prstGeom prst="arc">
            <a:avLst/>
          </a:prstGeom>
          <a:solidFill>
            <a:srgbClr val="EAF6EA"/>
          </a:solidFill>
          <a:ln w="12700">
            <a:solidFill>
              <a:srgbClr val="EAF6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394960"/>
            <a:ext cx="1828800" cy="1828800"/>
          </a:xfrm>
          <a:prstGeom prst="arc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4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9326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80" b="1" dirty="0">
                <a:solidFill>
                  <a:srgbClr val="1230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780" dirty="0"/>
          </a:p>
        </p:txBody>
      </p:sp>
      <p:sp>
        <p:nvSpPr>
          <p:cNvPr id="6" name="Shape 4"/>
          <p:cNvSpPr/>
          <p:nvPr/>
        </p:nvSpPr>
        <p:spPr>
          <a:xfrm>
            <a:off x="868680" y="199339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6424" y="1920240"/>
            <a:ext cx="6766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80" dirty="0">
                <a:solidFill>
                  <a:srgbClr val="1F2937"/>
                </a:solidFill>
              </a:rPr>
              <a:t>The Grocery App provides a complete customer shopping flow.</a:t>
            </a:r>
            <a:endParaRPr lang="en-US" sz="2080" dirty="0"/>
          </a:p>
        </p:txBody>
      </p:sp>
      <p:sp>
        <p:nvSpPr>
          <p:cNvPr id="8" name="Shape 6"/>
          <p:cNvSpPr/>
          <p:nvPr/>
        </p:nvSpPr>
        <p:spPr>
          <a:xfrm>
            <a:off x="868680" y="265176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6424" y="2578608"/>
            <a:ext cx="6766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80" dirty="0">
                <a:solidFill>
                  <a:srgbClr val="1F2937"/>
                </a:solidFill>
              </a:rPr>
              <a:t>Admin can manage orders, payments, fulfillment, and sales insights.</a:t>
            </a:r>
            <a:endParaRPr lang="en-US" sz="2080" dirty="0"/>
          </a:p>
        </p:txBody>
      </p:sp>
      <p:sp>
        <p:nvSpPr>
          <p:cNvPr id="10" name="Shape 8"/>
          <p:cNvSpPr/>
          <p:nvPr/>
        </p:nvSpPr>
        <p:spPr>
          <a:xfrm>
            <a:off x="868680" y="331012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3236976"/>
            <a:ext cx="6766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80" dirty="0">
                <a:solidFill>
                  <a:srgbClr val="1F2937"/>
                </a:solidFill>
              </a:rPr>
              <a:t>Manual payment confirmation supports Bank, JazzCash, and EasyPaisa.</a:t>
            </a:r>
            <a:endParaRPr lang="en-US" sz="2080" dirty="0"/>
          </a:p>
        </p:txBody>
      </p:sp>
      <p:sp>
        <p:nvSpPr>
          <p:cNvPr id="12" name="Shape 10"/>
          <p:cNvSpPr/>
          <p:nvPr/>
        </p:nvSpPr>
        <p:spPr>
          <a:xfrm>
            <a:off x="868680" y="396849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3895344"/>
            <a:ext cx="6766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80" dirty="0">
                <a:solidFill>
                  <a:srgbClr val="1F2937"/>
                </a:solidFill>
              </a:rPr>
              <a:t>The project demonstrates Flutter, Firebase, Provider, role-based access, and real-world grocery store workflow.</a:t>
            </a:r>
            <a:endParaRPr lang="en-US" sz="2080" dirty="0"/>
          </a:p>
        </p:txBody>
      </p:sp>
      <p:sp>
        <p:nvSpPr>
          <p:cNvPr id="14" name="Shape 12"/>
          <p:cNvSpPr/>
          <p:nvPr/>
        </p:nvSpPr>
        <p:spPr>
          <a:xfrm>
            <a:off x="8275320" y="1417320"/>
            <a:ext cx="288036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965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30" b="1" dirty="0">
                <a:solidFill>
                  <a:srgbClr val="2E7D32"/>
                </a:solidFill>
              </a:rPr>
              <a:t>Thank You</a:t>
            </a:r>
            <a:endParaRPr lang="en-US" sz="2730" dirty="0"/>
          </a:p>
        </p:txBody>
      </p:sp>
      <p:sp>
        <p:nvSpPr>
          <p:cNvPr id="16" name="Text 14"/>
          <p:cNvSpPr/>
          <p:nvPr/>
        </p:nvSpPr>
        <p:spPr>
          <a:xfrm>
            <a:off x="8458200" y="2560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36" b="1" dirty="0">
                <a:solidFill>
                  <a:srgbClr val="F97316"/>
                </a:solidFill>
              </a:rPr>
              <a:t>Questions?</a:t>
            </a:r>
            <a:endParaRPr lang="en-US" sz="2436" dirty="0"/>
          </a:p>
        </p:txBody>
      </p:sp>
      <p:sp>
        <p:nvSpPr>
          <p:cNvPr id="17" name="Text 15"/>
          <p:cNvSpPr/>
          <p:nvPr/>
        </p:nvSpPr>
        <p:spPr>
          <a:xfrm>
            <a:off x="8503920" y="3657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6B7280"/>
                </a:solidFill>
              </a:rPr>
              <a:t>Grocery App</a:t>
            </a:r>
            <a:endParaRPr lang="en-US" sz="1690" dirty="0"/>
          </a:p>
          <a:p>
            <a:pPr algn="ctr" indent="0" marL="0">
              <a:buNone/>
            </a:pPr>
            <a:r>
              <a:rPr lang="en-US" sz="1690" dirty="0">
                <a:solidFill>
                  <a:srgbClr val="6B7280"/>
                </a:solidFill>
              </a:rPr>
              <a:t>Advanced Android Project</a:t>
            </a:r>
            <a:endParaRPr lang="en-US" sz="16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56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University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Grocery App - Advanced Android Project</dc:title>
  <dc:subject>Advanced Android Project</dc:subject>
  <dc:creator>Grocery App</dc:creator>
  <cp:lastModifiedBy>Grocery App</cp:lastModifiedBy>
  <cp:revision>1</cp:revision>
  <dcterms:created xsi:type="dcterms:W3CDTF">2026-05-13T04:04:46Z</dcterms:created>
  <dcterms:modified xsi:type="dcterms:W3CDTF">2026-05-13T04:04:46Z</dcterms:modified>
</cp:coreProperties>
</file>